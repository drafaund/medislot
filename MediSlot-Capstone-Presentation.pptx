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01500" y="-1524000"/>
            <a:ext cx="7429500" cy="7429500"/>
          </a:xfrm>
          <a:prstGeom prst="ellipse">
            <a:avLst/>
          </a:prstGeom>
          <a:solidFill>
            <a:srgbClr val="2DB180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524000" y="7239000"/>
            <a:ext cx="4953000" cy="4953000"/>
          </a:xfrm>
          <a:prstGeom prst="ellipse">
            <a:avLst/>
          </a:prstGeom>
          <a:solidFill>
            <a:srgbClr val="2DB180">
              <a:alpha val="29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400050" cy="400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47800" y="973455"/>
            <a:ext cx="1108115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927699" y="1003935"/>
            <a:ext cx="605552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838051" y="1003935"/>
            <a:ext cx="57411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716970" y="1003935"/>
            <a:ext cx="73283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3110805"/>
            <a:ext cx="5265420" cy="40005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7620">
            <a:solidFill>
              <a:srgbClr val="BFE6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3470" y="3204150"/>
            <a:ext cx="506524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· MongoDB Developer Path · UGM 2025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914400" y="3798042"/>
            <a:ext cx="16952976" cy="1208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600" b="1" spc="-288" kern="0" dirty="0">
                <a:solidFill>
                  <a:srgbClr val="0D0E0E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</a:t>
            </a:r>
            <a:pPr algn="l" indent="0" marL="0">
              <a:lnSpc>
                <a:spcPct val="96000"/>
              </a:lnSpc>
              <a:buNone/>
            </a:pPr>
            <a:r>
              <a:rPr lang="en-US" sz="9600" b="1" spc="-288" kern="0" dirty="0">
                <a:solidFill>
                  <a:srgbClr val="2DB180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</a:t>
            </a:r>
            <a:endParaRPr lang="en-US" sz="9600" dirty="0"/>
          </a:p>
        </p:txBody>
      </p:sp>
      <p:sp>
        <p:nvSpPr>
          <p:cNvPr id="12" name="Text 9"/>
          <p:cNvSpPr/>
          <p:nvPr/>
        </p:nvSpPr>
        <p:spPr>
          <a:xfrm>
            <a:off x="914400" y="5200239"/>
            <a:ext cx="961453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3A423F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smarter way to find, book, and manage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0D0E0E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in-person doctor visits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3A423F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Indonesia — powered by AI.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914400" y="6787561"/>
            <a:ext cx="315109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7019971"/>
            <a:ext cx="315109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Name / Team ]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914400" y="7366681"/>
            <a:ext cx="315109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NIM · Program Studi · Universitas ]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354711" y="6835186"/>
            <a:ext cx="14288" cy="704850"/>
          </a:xfrm>
          <a:prstGeom prst="rect">
            <a:avLst/>
          </a:prstGeom>
          <a:solidFill>
            <a:srgbClr val="E7EEEA"/>
          </a:solidFill>
          <a:ln/>
        </p:spPr>
      </p:sp>
      <p:sp>
        <p:nvSpPr>
          <p:cNvPr id="17" name="Text 14"/>
          <p:cNvSpPr/>
          <p:nvPr/>
        </p:nvSpPr>
        <p:spPr>
          <a:xfrm>
            <a:off x="4749998" y="6901861"/>
            <a:ext cx="220444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Node · Express MongoDB Atlas · Groq AI</a:t>
            </a:r>
            <a:endParaRPr lang="en-US" sz="15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0" name="Text 16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49500" y="-1714500"/>
            <a:ext cx="4953000" cy="4953000"/>
          </a:xfrm>
          <a:prstGeom prst="ellipse">
            <a:avLst/>
          </a:prstGeom>
          <a:solidFill>
            <a:srgbClr val="2DB180">
              <a:alpha val="2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322228"/>
            <a:ext cx="12753975" cy="130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96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for the entire in-person care journey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800714"/>
            <a:ext cx="1157668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A423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 connects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D0E0E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patients, doctors, and clinics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A423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single web app — from discovering the right specialist to booking a queue number, to keeping a complete medical history with AI assistance.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5934915"/>
            <a:ext cx="3929063" cy="1981200"/>
          </a:xfrm>
          <a:prstGeom prst="roundRect">
            <a:avLst>
              <a:gd name="adj" fmla="val 10577"/>
            </a:avLst>
          </a:prstGeom>
          <a:solidFill>
            <a:srgbClr val="F6FBF9">
              <a:alpha val="99000"/>
            </a:srgbClr>
          </a:solidFill>
          <a:ln w="7620">
            <a:solidFill>
              <a:srgbClr val="E7EEEA">
                <a:alpha val="99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5870" y="6266385"/>
            <a:ext cx="336410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45870" y="6658815"/>
            <a:ext cx="33641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45870" y="7032195"/>
            <a:ext cx="336410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verified doctors by specialty, city &amp; BPJS — or let AI suggest 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91113" y="5937689"/>
            <a:ext cx="3929063" cy="1981200"/>
          </a:xfrm>
          <a:prstGeom prst="roundRect">
            <a:avLst>
              <a:gd name="adj" fmla="val 10577"/>
            </a:avLst>
          </a:prstGeom>
          <a:solidFill>
            <a:srgbClr val="F6FBF9">
              <a:alpha val="97000"/>
            </a:srgbClr>
          </a:solidFill>
          <a:ln w="7620">
            <a:solidFill>
              <a:srgbClr val="E7EEEA">
                <a:alpha val="9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582" y="6269159"/>
            <a:ext cx="336410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22582" y="6661589"/>
            <a:ext cx="33641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5422582" y="7034969"/>
            <a:ext cx="336410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real available slot and get an automatic queue number instantly.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67825" y="5943102"/>
            <a:ext cx="3929063" cy="1981200"/>
          </a:xfrm>
          <a:prstGeom prst="roundRect">
            <a:avLst>
              <a:gd name="adj" fmla="val 10577"/>
            </a:avLst>
          </a:prstGeom>
          <a:solidFill>
            <a:srgbClr val="F6FBF9">
              <a:alpha val="94000"/>
            </a:srgbClr>
          </a:solidFill>
          <a:ln w="7620">
            <a:solidFill>
              <a:srgbClr val="E7EEEA">
                <a:alpha val="94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99295" y="6274572"/>
            <a:ext cx="336410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99295" y="6667002"/>
            <a:ext cx="33641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599295" y="7040382"/>
            <a:ext cx="336410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record diagnosis, vitals &amp; prescriptions tied to each visit.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444538" y="5953348"/>
            <a:ext cx="3929063" cy="1981200"/>
          </a:xfrm>
          <a:prstGeom prst="roundRect">
            <a:avLst>
              <a:gd name="adj" fmla="val 10577"/>
            </a:avLst>
          </a:prstGeom>
          <a:solidFill>
            <a:srgbClr val="F6FBF9">
              <a:alpha val="87000"/>
            </a:srgbClr>
          </a:solidFill>
          <a:ln w="7620">
            <a:solidFill>
              <a:srgbClr val="E7EEEA">
                <a:alpha val="8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76008" y="6284818"/>
            <a:ext cx="336410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76008" y="6677248"/>
            <a:ext cx="33641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3776008" y="7050628"/>
            <a:ext cx="336410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lifelong medical history, summarized on demand by AI.</a:t>
            </a:r>
            <a:endParaRPr lang="en-US" sz="1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4" name="Text 21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25" name="Text 22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14400" y="1322228"/>
            <a:ext cx="12557760" cy="1305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96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a doctor in Indonesia is still slow, opaque, and disconnected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505211"/>
            <a:ext cx="8096250" cy="1601153"/>
          </a:xfrm>
          <a:prstGeom prst="roundRect">
            <a:avLst>
              <a:gd name="adj" fmla="val 13087"/>
            </a:avLst>
          </a:prstGeom>
          <a:solidFill>
            <a:srgbClr val="FFFFFF">
              <a:alpha val="99000"/>
            </a:srgbClr>
          </a:solidFill>
          <a:ln w="7620">
            <a:solidFill>
              <a:srgbClr val="E7EEEA">
                <a:alpha val="9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5870" y="483668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FF1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270" y="4989081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84070" y="4836681"/>
            <a:ext cx="67929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calls &amp; walk-ins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2084070" y="5194821"/>
            <a:ext cx="6792964" cy="61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still book by calling clinics or queuing in person, with no view of real availability.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9277350" y="4505211"/>
            <a:ext cx="8096250" cy="1601153"/>
          </a:xfrm>
          <a:prstGeom prst="roundRect">
            <a:avLst>
              <a:gd name="adj" fmla="val 13087"/>
            </a:avLst>
          </a:prstGeom>
          <a:solidFill>
            <a:srgbClr val="FFFFFF">
              <a:alpha val="99000"/>
            </a:srgbClr>
          </a:solidFill>
          <a:ln w="7620">
            <a:solidFill>
              <a:srgbClr val="E7EEEA">
                <a:alpha val="99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08820" y="4836681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FF1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220" y="4989081"/>
            <a:ext cx="304800" cy="304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47020" y="4836681"/>
            <a:ext cx="6324991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queue transparency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10447020" y="5194821"/>
            <a:ext cx="6324991" cy="32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never know your number or wait time until you arrive at the clinic.</a:t>
            </a:r>
            <a:endParaRPr lang="en-US" sz="1575" dirty="0"/>
          </a:p>
        </p:txBody>
      </p:sp>
      <p:sp>
        <p:nvSpPr>
          <p:cNvPr id="14" name="Shape 10"/>
          <p:cNvSpPr/>
          <p:nvPr/>
        </p:nvSpPr>
        <p:spPr>
          <a:xfrm>
            <a:off x="914400" y="6375835"/>
            <a:ext cx="8096250" cy="1601153"/>
          </a:xfrm>
          <a:prstGeom prst="roundRect">
            <a:avLst>
              <a:gd name="adj" fmla="val 1308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7EEEA">
                <a:alpha val="97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245870" y="670730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FF1F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270" y="6859705"/>
            <a:ext cx="304800" cy="304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84070" y="6707305"/>
            <a:ext cx="67929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specialist?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2084070" y="7065445"/>
            <a:ext cx="6792964" cy="61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only symptoms to go on, patients guess which type of doctor they actually need.</a:t>
            </a:r>
            <a:endParaRPr lang="en-US" sz="1575" dirty="0"/>
          </a:p>
        </p:txBody>
      </p:sp>
      <p:sp>
        <p:nvSpPr>
          <p:cNvPr id="19" name="Shape 14"/>
          <p:cNvSpPr/>
          <p:nvPr/>
        </p:nvSpPr>
        <p:spPr>
          <a:xfrm>
            <a:off x="9277350" y="6375835"/>
            <a:ext cx="8096250" cy="1601153"/>
          </a:xfrm>
          <a:prstGeom prst="roundRect">
            <a:avLst>
              <a:gd name="adj" fmla="val 1308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7EEEA">
                <a:alpha val="97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08820" y="670730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FF1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1220" y="6859705"/>
            <a:ext cx="304800" cy="3048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447020" y="6707305"/>
            <a:ext cx="679296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records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10447020" y="7065445"/>
            <a:ext cx="6792964" cy="618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history lives on paper across clinics — hard to retrieve, easy to lose.</a:t>
            </a:r>
            <a:endParaRPr lang="en-US" sz="1575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6" name="Text 19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27" name="Text 20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0" y="5905500"/>
            <a:ext cx="6477000" cy="6477000"/>
          </a:xfrm>
          <a:prstGeom prst="ellipse">
            <a:avLst/>
          </a:prstGeom>
          <a:solidFill>
            <a:srgbClr val="2DB18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322227"/>
            <a:ext cx="11772900" cy="1305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96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 closes the loop — discover, book, and remember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4106112"/>
            <a:ext cx="859127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A423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web platform that replaces phone calls and paper with a transparent, AI-assisted flow for three kinds of users.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5194732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3F6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5347132"/>
            <a:ext cx="30480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5450" y="5373802"/>
            <a:ext cx="506688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doctor search with real-time available slots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914400" y="5975782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3F6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6128182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5450" y="6154852"/>
            <a:ext cx="4804202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booking with automatic queue numbers</a:t>
            </a:r>
            <a:endParaRPr lang="en-US" sz="1725" dirty="0"/>
          </a:p>
        </p:txBody>
      </p:sp>
      <p:sp>
        <p:nvSpPr>
          <p:cNvPr id="12" name="Shape 8"/>
          <p:cNvSpPr/>
          <p:nvPr/>
        </p:nvSpPr>
        <p:spPr>
          <a:xfrm>
            <a:off x="914400" y="676224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5795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6914640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5450" y="6941309"/>
            <a:ext cx="491555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symptom checker &amp; health-history summarizer</a:t>
            </a:r>
            <a:endParaRPr lang="en-US" sz="1725" dirty="0"/>
          </a:p>
        </p:txBody>
      </p:sp>
      <p:sp>
        <p:nvSpPr>
          <p:cNvPr id="15" name="Shape 10"/>
          <p:cNvSpPr/>
          <p:nvPr/>
        </p:nvSpPr>
        <p:spPr>
          <a:xfrm>
            <a:off x="914400" y="754329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3F6E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7695690"/>
            <a:ext cx="304800" cy="304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5450" y="7722359"/>
            <a:ext cx="491616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verification keeps every doctor trustworthy</a:t>
            </a:r>
            <a:endParaRPr lang="en-US" sz="1725" dirty="0"/>
          </a:p>
        </p:txBody>
      </p:sp>
      <p:sp>
        <p:nvSpPr>
          <p:cNvPr id="18" name="Shape 12"/>
          <p:cNvSpPr/>
          <p:nvPr/>
        </p:nvSpPr>
        <p:spPr>
          <a:xfrm>
            <a:off x="11552396" y="4080307"/>
            <a:ext cx="4095750" cy="4095750"/>
          </a:xfrm>
          <a:prstGeom prst="ellipse">
            <a:avLst/>
          </a:prstGeom>
          <a:solidFill>
            <a:srgbClr val="2DB180">
              <a:alpha val="16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4896" y="5032807"/>
            <a:ext cx="2190750" cy="219075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2" name="Text 14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23" name="Text 15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14400" y="1322228"/>
            <a:ext cx="16952976" cy="67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96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patient journey, end to end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24864" y="5174695"/>
            <a:ext cx="12838271" cy="28575"/>
          </a:xfrm>
          <a:prstGeom prst="rect">
            <a:avLst/>
          </a:prstGeom>
          <a:solidFill>
            <a:srgbClr val="2DB180"/>
          </a:solidFill>
          <a:ln/>
        </p:spPr>
      </p:sp>
      <p:sp>
        <p:nvSpPr>
          <p:cNvPr id="5" name="Shape 3"/>
          <p:cNvSpPr/>
          <p:nvPr/>
        </p:nvSpPr>
        <p:spPr>
          <a:xfrm>
            <a:off x="2524125" y="4737860"/>
            <a:ext cx="895350" cy="895350"/>
          </a:xfrm>
          <a:prstGeom prst="ellipse">
            <a:avLst/>
          </a:prstGeom>
          <a:solidFill>
            <a:srgbClr val="15795A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0" y="5033135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79558" y="5861810"/>
            <a:ext cx="15843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doctor</a:t>
            </a:r>
            <a:endParaRPr lang="en-US" sz="1875" dirty="0"/>
          </a:p>
        </p:txBody>
      </p:sp>
      <p:sp>
        <p:nvSpPr>
          <p:cNvPr id="8" name="Text 5"/>
          <p:cNvSpPr/>
          <p:nvPr/>
        </p:nvSpPr>
        <p:spPr>
          <a:xfrm>
            <a:off x="1068515" y="6231380"/>
            <a:ext cx="38065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specialty, city &amp; BPJS — or describe symptoms to the AI checker.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38925" y="4740632"/>
            <a:ext cx="895350" cy="895350"/>
          </a:xfrm>
          <a:prstGeom prst="ellipse">
            <a:avLst/>
          </a:prstGeom>
          <a:solidFill>
            <a:srgbClr val="15795A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5035908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9498" y="5864583"/>
            <a:ext cx="125420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slot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5183315" y="6234153"/>
            <a:ext cx="38065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real available times generated from the doctor's weekly schedule.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0753725" y="4746044"/>
            <a:ext cx="895350" cy="895350"/>
          </a:xfrm>
          <a:prstGeom prst="ellipse">
            <a:avLst/>
          </a:prstGeom>
          <a:solidFill>
            <a:srgbClr val="15795A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5041319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369510" y="5869994"/>
            <a:ext cx="166377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queue no.</a:t>
            </a:r>
            <a:endParaRPr lang="en-US" sz="1875" dirty="0"/>
          </a:p>
        </p:txBody>
      </p:sp>
      <p:sp>
        <p:nvSpPr>
          <p:cNvPr id="16" name="Text 11"/>
          <p:cNvSpPr/>
          <p:nvPr/>
        </p:nvSpPr>
        <p:spPr>
          <a:xfrm>
            <a:off x="9298115" y="6239564"/>
            <a:ext cx="38065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confirmed with an automatic queue number — doctor is notified.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14868525" y="4756286"/>
            <a:ext cx="895350" cy="895350"/>
          </a:xfrm>
          <a:prstGeom prst="ellipse">
            <a:avLst/>
          </a:prstGeom>
          <a:solidFill>
            <a:srgbClr val="15795A"/>
          </a:solidFill>
          <a:ln/>
          <a:effectLst>
            <a:outerShdw sx="100000" sy="100000" kx="0" ky="0" algn="bl" rotWithShape="0" blurRad="101600" dist="50800" dir="16200000">
              <a:srgbClr val="FFFFFF">
                <a:alpha val="10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3800" y="5051561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506099" y="5880236"/>
            <a:ext cx="162020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&amp; record</a:t>
            </a:r>
            <a:endParaRPr lang="en-US" sz="1875" dirty="0"/>
          </a:p>
        </p:txBody>
      </p:sp>
      <p:sp>
        <p:nvSpPr>
          <p:cNvPr id="20" name="Text 14"/>
          <p:cNvSpPr/>
          <p:nvPr/>
        </p:nvSpPr>
        <p:spPr>
          <a:xfrm>
            <a:off x="13412915" y="6249806"/>
            <a:ext cx="38065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visit, the medical record is saved to your history forever.</a:t>
            </a:r>
            <a:endParaRPr lang="en-US" sz="15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3" name="Text 16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24" name="Text 17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14400" y="1322228"/>
            <a:ext cx="16952976" cy="67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96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three roles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173266"/>
            <a:ext cx="5308521" cy="3422809"/>
          </a:xfrm>
          <a:prstGeom prst="roundRect">
            <a:avLst>
              <a:gd name="adj" fmla="val 6122"/>
            </a:avLst>
          </a:prstGeom>
          <a:solidFill>
            <a:srgbClr val="FFFFFF">
              <a:alpha val="9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7588455"/>
            <a:ext cx="5308521" cy="9525"/>
          </a:xfrm>
          <a:prstGeom prst="rect">
            <a:avLst/>
          </a:prstGeom>
          <a:solidFill>
            <a:srgbClr val="E7EEEA">
              <a:alpha val="9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73266"/>
            <a:ext cx="5308521" cy="45720"/>
          </a:xfrm>
          <a:prstGeom prst="rect">
            <a:avLst/>
          </a:prstGeom>
          <a:solidFill>
            <a:srgbClr val="2DB180">
              <a:alpha val="9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173266"/>
            <a:ext cx="9525" cy="3422809"/>
          </a:xfrm>
          <a:prstGeom prst="rect">
            <a:avLst/>
          </a:prstGeom>
          <a:solidFill>
            <a:srgbClr val="E7EEEA">
              <a:alpha val="9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15301" y="4173266"/>
            <a:ext cx="9525" cy="3422809"/>
          </a:xfrm>
          <a:prstGeom prst="rect">
            <a:avLst/>
          </a:prstGeom>
          <a:solidFill>
            <a:srgbClr val="E7EEEA">
              <a:alpha val="9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45870" y="454283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3F6E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270" y="4695236"/>
            <a:ext cx="304800" cy="3048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07870" y="4683806"/>
            <a:ext cx="102893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245870" y="5381036"/>
            <a:ext cx="4784948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Search &amp; filter verified doctors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245870" y="5784420"/>
            <a:ext cx="4784948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Book slots with queue numbers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245870" y="6187804"/>
            <a:ext cx="4784948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Dashboard of upcoming &amp; past visits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245870" y="6591188"/>
            <a:ext cx="4784948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Full medical history + AI summary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245870" y="6994571"/>
            <a:ext cx="4784948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AI symptom checker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6489621" y="4176040"/>
            <a:ext cx="5308640" cy="3422809"/>
          </a:xfrm>
          <a:prstGeom prst="roundRect">
            <a:avLst>
              <a:gd name="adj" fmla="val 6122"/>
            </a:avLst>
          </a:prstGeom>
          <a:solidFill>
            <a:srgbClr val="FFFFFF">
              <a:alpha val="97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489621" y="7591229"/>
            <a:ext cx="5308640" cy="9525"/>
          </a:xfrm>
          <a:prstGeom prst="rect">
            <a:avLst/>
          </a:prstGeom>
          <a:solidFill>
            <a:srgbClr val="E7EEEA">
              <a:alpha val="97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489621" y="4176040"/>
            <a:ext cx="5308640" cy="45720"/>
          </a:xfrm>
          <a:prstGeom prst="rect">
            <a:avLst/>
          </a:prstGeom>
          <a:solidFill>
            <a:srgbClr val="15795A">
              <a:alpha val="97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489621" y="4176040"/>
            <a:ext cx="9525" cy="3422809"/>
          </a:xfrm>
          <a:prstGeom prst="rect">
            <a:avLst/>
          </a:prstGeom>
          <a:solidFill>
            <a:srgbClr val="E7EEEA">
              <a:alpha val="97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1790641" y="4176040"/>
            <a:ext cx="9525" cy="3422809"/>
          </a:xfrm>
          <a:prstGeom prst="rect">
            <a:avLst/>
          </a:prstGeom>
          <a:solidFill>
            <a:srgbClr val="E7EEEA">
              <a:alpha val="97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821091" y="454561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5795A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491" y="4698010"/>
            <a:ext cx="304800" cy="3048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83091" y="4686580"/>
            <a:ext cx="99702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2250" dirty="0"/>
          </a:p>
        </p:txBody>
      </p:sp>
      <p:sp>
        <p:nvSpPr>
          <p:cNvPr id="25" name="Text 21"/>
          <p:cNvSpPr/>
          <p:nvPr/>
        </p:nvSpPr>
        <p:spPr>
          <a:xfrm>
            <a:off x="6821091" y="5383810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Onboarding &amp; clinic profile setup</a:t>
            </a:r>
            <a:endParaRPr lang="en-US" sz="1575" dirty="0"/>
          </a:p>
        </p:txBody>
      </p:sp>
      <p:sp>
        <p:nvSpPr>
          <p:cNvPr id="26" name="Text 22"/>
          <p:cNvSpPr/>
          <p:nvPr/>
        </p:nvSpPr>
        <p:spPr>
          <a:xfrm>
            <a:off x="6821091" y="5787194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Weekly schedules &amp; slot durations</a:t>
            </a:r>
            <a:endParaRPr lang="en-US" sz="1575" dirty="0"/>
          </a:p>
        </p:txBody>
      </p:sp>
      <p:sp>
        <p:nvSpPr>
          <p:cNvPr id="27" name="Text 23"/>
          <p:cNvSpPr/>
          <p:nvPr/>
        </p:nvSpPr>
        <p:spPr>
          <a:xfrm>
            <a:off x="6821091" y="6190577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Daily appointment queue view</a:t>
            </a:r>
            <a:endParaRPr lang="en-US" sz="1575" dirty="0"/>
          </a:p>
        </p:txBody>
      </p:sp>
      <p:sp>
        <p:nvSpPr>
          <p:cNvPr id="28" name="Text 24"/>
          <p:cNvSpPr/>
          <p:nvPr/>
        </p:nvSpPr>
        <p:spPr>
          <a:xfrm>
            <a:off x="6821091" y="6593961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Create medical records &amp; prescriptions</a:t>
            </a:r>
            <a:endParaRPr lang="en-US" sz="1575" dirty="0"/>
          </a:p>
        </p:txBody>
      </p:sp>
      <p:sp>
        <p:nvSpPr>
          <p:cNvPr id="29" name="Text 25"/>
          <p:cNvSpPr/>
          <p:nvPr/>
        </p:nvSpPr>
        <p:spPr>
          <a:xfrm>
            <a:off x="6821091" y="6997345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Patient record lookup</a:t>
            </a:r>
            <a:endParaRPr lang="en-US" sz="1575" dirty="0"/>
          </a:p>
        </p:txBody>
      </p:sp>
      <p:sp>
        <p:nvSpPr>
          <p:cNvPr id="30" name="Shape 26"/>
          <p:cNvSpPr/>
          <p:nvPr/>
        </p:nvSpPr>
        <p:spPr>
          <a:xfrm>
            <a:off x="12064960" y="4181453"/>
            <a:ext cx="5308640" cy="3422809"/>
          </a:xfrm>
          <a:prstGeom prst="roundRect">
            <a:avLst>
              <a:gd name="adj" fmla="val 6122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12064960" y="7596641"/>
            <a:ext cx="5308640" cy="9525"/>
          </a:xfrm>
          <a:prstGeom prst="rect">
            <a:avLst/>
          </a:prstGeom>
          <a:solidFill>
            <a:srgbClr val="E7EEEA">
              <a:alpha val="94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12064960" y="4181453"/>
            <a:ext cx="5308640" cy="45720"/>
          </a:xfrm>
          <a:prstGeom prst="rect">
            <a:avLst/>
          </a:prstGeom>
          <a:solidFill>
            <a:srgbClr val="5C6B66">
              <a:alpha val="94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12064960" y="4181453"/>
            <a:ext cx="9525" cy="3422809"/>
          </a:xfrm>
          <a:prstGeom prst="rect">
            <a:avLst/>
          </a:prstGeom>
          <a:solidFill>
            <a:srgbClr val="E7EEEA">
              <a:alpha val="94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17365980" y="4181453"/>
            <a:ext cx="9525" cy="3422809"/>
          </a:xfrm>
          <a:prstGeom prst="rect">
            <a:avLst/>
          </a:prstGeom>
          <a:solidFill>
            <a:srgbClr val="E7EEEA">
              <a:alpha val="94000"/>
            </a:srgbClr>
          </a:solidFill>
          <a:ln/>
        </p:spPr>
      </p:sp>
      <p:sp>
        <p:nvSpPr>
          <p:cNvPr id="35" name="Shape 31"/>
          <p:cNvSpPr/>
          <p:nvPr/>
        </p:nvSpPr>
        <p:spPr>
          <a:xfrm>
            <a:off x="12396431" y="4551023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FF1F0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8831" y="4703423"/>
            <a:ext cx="304800" cy="3048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3158431" y="4691993"/>
            <a:ext cx="965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250" dirty="0"/>
          </a:p>
        </p:txBody>
      </p:sp>
      <p:sp>
        <p:nvSpPr>
          <p:cNvPr id="38" name="Text 33"/>
          <p:cNvSpPr/>
          <p:nvPr/>
        </p:nvSpPr>
        <p:spPr>
          <a:xfrm>
            <a:off x="12396431" y="5389223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Platform-wide doctor statistics</a:t>
            </a:r>
            <a:endParaRPr lang="en-US" sz="1575" dirty="0"/>
          </a:p>
        </p:txBody>
      </p:sp>
      <p:sp>
        <p:nvSpPr>
          <p:cNvPr id="39" name="Text 34"/>
          <p:cNvSpPr/>
          <p:nvPr/>
        </p:nvSpPr>
        <p:spPr>
          <a:xfrm>
            <a:off x="12396431" y="5792606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Verify / reject pending doctors</a:t>
            </a:r>
            <a:endParaRPr lang="en-US" sz="1575" dirty="0"/>
          </a:p>
        </p:txBody>
      </p:sp>
      <p:sp>
        <p:nvSpPr>
          <p:cNvPr id="40" name="Text 35"/>
          <p:cNvSpPr/>
          <p:nvPr/>
        </p:nvSpPr>
        <p:spPr>
          <a:xfrm>
            <a:off x="12396431" y="6195990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Manage all doctors &amp; patients</a:t>
            </a:r>
            <a:endParaRPr lang="en-US" sz="1575" dirty="0"/>
          </a:p>
        </p:txBody>
      </p:sp>
      <p:sp>
        <p:nvSpPr>
          <p:cNvPr id="41" name="Text 36"/>
          <p:cNvSpPr/>
          <p:nvPr/>
        </p:nvSpPr>
        <p:spPr>
          <a:xfrm>
            <a:off x="12396431" y="6599374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Gatekeeps search visibility</a:t>
            </a:r>
            <a:endParaRPr lang="en-US" sz="1575" dirty="0"/>
          </a:p>
        </p:txBody>
      </p:sp>
      <p:sp>
        <p:nvSpPr>
          <p:cNvPr id="42" name="Text 37"/>
          <p:cNvSpPr/>
          <p:nvPr/>
        </p:nvSpPr>
        <p:spPr>
          <a:xfrm>
            <a:off x="12396431" y="7002758"/>
            <a:ext cx="4785071" cy="308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Trust &amp; quality control</a:t>
            </a:r>
            <a:endParaRPr lang="en-US" sz="1575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45" name="Text 39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46" name="Text 40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-1524000"/>
            <a:ext cx="5334000" cy="5334000"/>
          </a:xfrm>
          <a:prstGeom prst="ellipse">
            <a:avLst/>
          </a:prstGeom>
          <a:solidFill>
            <a:srgbClr val="2DB180">
              <a:alpha val="21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322228"/>
            <a:ext cx="16952976" cy="671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96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AI features, one model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28723"/>
            <a:ext cx="1157668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A423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0D0E0E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· llama-3.3-70b-versatile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3A423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called server-side only, so the API key is never exposed to the browser.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4400" y="4615853"/>
            <a:ext cx="8086725" cy="3476625"/>
          </a:xfrm>
          <a:prstGeom prst="roundRect">
            <a:avLst>
              <a:gd name="adj" fmla="val 6027"/>
            </a:avLst>
          </a:prstGeom>
          <a:solidFill>
            <a:srgbClr val="F6FBF9">
              <a:alpha val="97000"/>
            </a:srgbClr>
          </a:solidFill>
          <a:ln w="7620">
            <a:solidFill>
              <a:srgbClr val="E7EEEA">
                <a:alpha val="9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5870" y="4947323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270" y="5099723"/>
            <a:ext cx="304800" cy="30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5870" y="5766473"/>
            <a:ext cx="7646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Symptom Checker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245870" y="6208433"/>
            <a:ext cx="764649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describe symptoms in plain language; the model returns a structured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recommendation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JSON, guiding them to the right doctor before they search.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245870" y="7360958"/>
            <a:ext cx="2842379" cy="40005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7620">
            <a:solidFill>
              <a:srgbClr val="BFE6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24940" y="7454303"/>
            <a:ext cx="256951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/api/ai/symptom-check</a:t>
            </a:r>
            <a:endParaRPr lang="en-US" sz="1425" dirty="0"/>
          </a:p>
        </p:txBody>
      </p:sp>
      <p:sp>
        <p:nvSpPr>
          <p:cNvPr id="13" name="Shape 10"/>
          <p:cNvSpPr/>
          <p:nvPr/>
        </p:nvSpPr>
        <p:spPr>
          <a:xfrm>
            <a:off x="9286875" y="4621263"/>
            <a:ext cx="8086725" cy="3476625"/>
          </a:xfrm>
          <a:prstGeom prst="roundRect">
            <a:avLst>
              <a:gd name="adj" fmla="val 6027"/>
            </a:avLst>
          </a:prstGeom>
          <a:solidFill>
            <a:srgbClr val="F6FBF9">
              <a:alpha val="94000"/>
            </a:srgbClr>
          </a:solidFill>
          <a:ln w="7620">
            <a:solidFill>
              <a:srgbClr val="E7EEEA">
                <a:alpha val="9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18345" y="4952733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745" y="5105133"/>
            <a:ext cx="304800" cy="304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18345" y="5771883"/>
            <a:ext cx="7646499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Health Summarizer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9618345" y="6213843"/>
            <a:ext cx="764649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a patient's latest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records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generates a readable narrative summary of their health history on demand.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9618345" y="7052043"/>
            <a:ext cx="2741771" cy="40005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7620">
            <a:solidFill>
              <a:srgbClr val="BFE6D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797415" y="7145388"/>
            <a:ext cx="2465884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/api/ai/health-summary</a:t>
            </a:r>
            <a:endParaRPr lang="en-US" sz="1425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2" name="Text 17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23" name="Text 18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DFD LEVEL 0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14400" y="1322228"/>
            <a:ext cx="16952976" cy="57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1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context diagram</a:t>
            </a:r>
            <a:endParaRPr lang="en-US" sz="4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14049"/>
            <a:ext cx="16459200" cy="72223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2375" y="4677728"/>
            <a:ext cx="3143250" cy="1694974"/>
          </a:xfrm>
          <a:prstGeom prst="roundRect">
            <a:avLst>
              <a:gd name="adj" fmla="val 13487"/>
            </a:avLst>
          </a:prstGeom>
          <a:solidFill>
            <a:srgbClr val="15795A"/>
          </a:solidFill>
          <a:ln w="15240">
            <a:solidFill>
              <a:srgbClr val="15795A"/>
            </a:solidFill>
            <a:prstDash val="solid"/>
          </a:ln>
          <a:effectLst>
            <a:outerShdw sx="100000" sy="100000" kx="0" ky="0" algn="bl" rotWithShape="0" blurRad="476250" dist="228600" dir="5400000">
              <a:srgbClr val="0F795A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73365" y="5016818"/>
            <a:ext cx="254127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⚕️ MediSlot System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873365" y="5807393"/>
            <a:ext cx="2541270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Appointment Platform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485900" y="3344115"/>
            <a:ext cx="2857500" cy="804386"/>
          </a:xfrm>
          <a:prstGeom prst="roundRect">
            <a:avLst>
              <a:gd name="adj" fmla="val 18946"/>
            </a:avLst>
          </a:prstGeom>
          <a:solidFill>
            <a:srgbClr val="E3F6EE">
              <a:alpha val="99000"/>
            </a:srgbClr>
          </a:solidFill>
          <a:ln w="15240">
            <a:solidFill>
              <a:srgbClr val="2DB180">
                <a:alpha val="99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16016" y="3519375"/>
            <a:ext cx="10733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0F4D3A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Patient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653540" y="3790361"/>
            <a:ext cx="25222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4D3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· symptoms · login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485900" y="5061389"/>
            <a:ext cx="2857500" cy="804386"/>
          </a:xfrm>
          <a:prstGeom prst="roundRect">
            <a:avLst>
              <a:gd name="adj" fmla="val 18946"/>
            </a:avLst>
          </a:prstGeom>
          <a:solidFill>
            <a:srgbClr val="E3F6EE">
              <a:alpha val="97000"/>
            </a:srgbClr>
          </a:solidFill>
          <a:ln w="15240">
            <a:solidFill>
              <a:srgbClr val="2DB180">
                <a:alpha val="97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71568" y="5236649"/>
            <a:ext cx="17623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0F4D3A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👨‍⚕️ Doctor / Clinic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653540" y="5507635"/>
            <a:ext cx="25222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4D3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· exam results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85900" y="6775889"/>
            <a:ext cx="2857500" cy="804386"/>
          </a:xfrm>
          <a:prstGeom prst="roundRect">
            <a:avLst>
              <a:gd name="adj" fmla="val 18946"/>
            </a:avLst>
          </a:prstGeom>
          <a:solidFill>
            <a:srgbClr val="EFF1F0">
              <a:alpha val="97000"/>
            </a:srgbClr>
          </a:solidFill>
          <a:ln w="15240">
            <a:solidFill>
              <a:srgbClr val="5C6B66">
                <a:alpha val="97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42091" y="6951149"/>
            <a:ext cx="10213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3C4642">
                    <a:alpha val="9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Admin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1653540" y="7222135"/>
            <a:ext cx="25222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4642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doctors · manage users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3944600" y="3352301"/>
            <a:ext cx="2857500" cy="804386"/>
          </a:xfrm>
          <a:prstGeom prst="roundRect">
            <a:avLst>
              <a:gd name="adj" fmla="val 18946"/>
            </a:avLst>
          </a:prstGeom>
          <a:solidFill>
            <a:srgbClr val="EFF1F0">
              <a:alpha val="94000"/>
            </a:srgbClr>
          </a:solidFill>
          <a:ln w="15240">
            <a:solidFill>
              <a:srgbClr val="5C6B66">
                <a:alpha val="94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363581" y="3527561"/>
            <a:ext cx="20956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3C4642">
                    <a:alpha val="9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Google OAuth 2.0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14112240" y="3798548"/>
            <a:ext cx="25222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4642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auth · profile token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13944600" y="5553296"/>
            <a:ext cx="2857500" cy="804386"/>
          </a:xfrm>
          <a:prstGeom prst="roundRect">
            <a:avLst>
              <a:gd name="adj" fmla="val 18946"/>
            </a:avLst>
          </a:prstGeom>
          <a:solidFill>
            <a:srgbClr val="FAEEDA">
              <a:alpha val="87000"/>
            </a:srgbClr>
          </a:solidFill>
          <a:ln w="15240">
            <a:solidFill>
              <a:srgbClr val="C9852F">
                <a:alpha val="87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4654451" y="5728557"/>
            <a:ext cx="15139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75" b="1" dirty="0">
                <a:solidFill>
                  <a:srgbClr val="7A4F12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Groq AI API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14112240" y="5999543"/>
            <a:ext cx="25222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4F12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llama-3.3-70b-versatile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264713"/>
            <a:ext cx="323850" cy="5715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33500" y="9194228"/>
            <a:ext cx="12102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data flow</a:t>
            </a:r>
            <a:endParaRPr lang="en-US" sz="13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4270" y="9264713"/>
            <a:ext cx="323850" cy="5715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153370" y="9194228"/>
            <a:ext cx="16007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 call</a:t>
            </a:r>
            <a:endParaRPr lang="en-US" sz="13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9" name="Text 23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30" name="Text 24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742389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DFD LEVEL 1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685800" y="1055529"/>
            <a:ext cx="1742389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75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&amp; actor overview — 14 processes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685800" y="4005151"/>
            <a:ext cx="4071938" cy="45339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7620">
            <a:solidFill>
              <a:srgbClr val="BFE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3791" y="4098496"/>
            <a:ext cx="38359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Shared</a:t>
            </a:r>
            <a:endParaRPr lang="en-US" sz="1575" dirty="0"/>
          </a:p>
        </p:txBody>
      </p:sp>
      <p:sp>
        <p:nvSpPr>
          <p:cNvPr id="6" name="Shape 4"/>
          <p:cNvSpPr/>
          <p:nvPr/>
        </p:nvSpPr>
        <p:spPr>
          <a:xfrm>
            <a:off x="685800" y="4591891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3F6EE"/>
          </a:solidFill>
          <a:ln w="15240">
            <a:solidFill>
              <a:srgbClr val="2DB1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3786" y="4730956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Auth &amp; Registration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5189108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3F6EE"/>
          </a:solidFill>
          <a:ln w="15240">
            <a:solidFill>
              <a:srgbClr val="2DB1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786" y="5328173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· Manage Appointment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5786326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3F6EE"/>
          </a:solidFill>
          <a:ln w="15240">
            <a:solidFill>
              <a:srgbClr val="2DB1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786" y="5925391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 · View Health History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6383543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3F6EE"/>
          </a:solidFill>
          <a:ln w="15240">
            <a:solidFill>
              <a:srgbClr val="2DB1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786" y="6522608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P13 · View Notifications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67288" y="4007925"/>
            <a:ext cx="4071938" cy="45339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7620">
            <a:solidFill>
              <a:srgbClr val="BFE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5278" y="4101270"/>
            <a:ext cx="38359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Patient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4967288" y="4594665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DEBFD"/>
          </a:solidFill>
          <a:ln w="15240">
            <a:solidFill>
              <a:srgbClr val="6A5F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5273" y="4733730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Search Doctors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967288" y="5191883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FAEEDA"/>
          </a:solidFill>
          <a:ln w="15240">
            <a:solidFill>
              <a:srgbClr val="C985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45273" y="5330948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AI Symptom Checker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967288" y="5789100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DEBFD"/>
          </a:solidFill>
          <a:ln w="15240">
            <a:solidFill>
              <a:srgbClr val="6A5F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5273" y="5928165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Booking Appointment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967288" y="6386317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FAEEDA"/>
          </a:solidFill>
          <a:ln w="15240">
            <a:solidFill>
              <a:srgbClr val="C985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5273" y="6525382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 · AI Health Summarizer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967288" y="6983535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DEBFD"/>
          </a:solidFill>
          <a:ln w="15240">
            <a:solidFill>
              <a:srgbClr val="6A5F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5273" y="7122600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P12 · Patient Profile Mgmt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9248775" y="4013339"/>
            <a:ext cx="4071938" cy="45339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7620">
            <a:solidFill>
              <a:srgbClr val="BFE6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66766" y="4106684"/>
            <a:ext cx="38359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👨‍⚕️ Doctor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9248775" y="4600079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DEBFD"/>
          </a:solidFill>
          <a:ln w="15240">
            <a:solidFill>
              <a:srgbClr val="6A5F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761" y="4739144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· Input Medical Record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248775" y="5197297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DEBFD"/>
          </a:solidFill>
          <a:ln w="15240">
            <a:solidFill>
              <a:srgbClr val="6A5FC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761" y="5336362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 · Create Schedule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248775" y="5794514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DEBFD"/>
          </a:solidFill>
          <a:ln w="15240">
            <a:solidFill>
              <a:srgbClr val="6A5F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761" y="5933579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P11 · Doctor Profile Setup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3530263" y="4023586"/>
            <a:ext cx="4071938" cy="453390"/>
          </a:xfrm>
          <a:prstGeom prst="roundRect">
            <a:avLst>
              <a:gd name="adj" fmla="val 50000"/>
            </a:avLst>
          </a:prstGeom>
          <a:solidFill>
            <a:srgbClr val="EFF1F0"/>
          </a:solidFill>
          <a:ln w="7620">
            <a:solidFill>
              <a:srgbClr val="DFE3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648253" y="4116931"/>
            <a:ext cx="38359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5C6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Admin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13530263" y="4610326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FF1F0"/>
          </a:solidFill>
          <a:ln w="15240">
            <a:solidFill>
              <a:srgbClr val="5C6B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608248" y="4749391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C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 · Verify Doctor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3530263" y="5207544"/>
            <a:ext cx="4071938" cy="492443"/>
          </a:xfrm>
          <a:prstGeom prst="roundRect">
            <a:avLst>
              <a:gd name="adj" fmla="val 30948"/>
            </a:avLst>
          </a:prstGeom>
          <a:solidFill>
            <a:srgbClr val="EFF1F0"/>
          </a:solidFill>
          <a:ln w="15240">
            <a:solidFill>
              <a:srgbClr val="5C6B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608248" y="5346609"/>
            <a:ext cx="391596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C46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P14 · Manage Users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3530263" y="5909536"/>
            <a:ext cx="4071938" cy="796290"/>
          </a:xfrm>
          <a:prstGeom prst="roundRect">
            <a:avLst>
              <a:gd name="adj" fmla="val 16746"/>
            </a:avLst>
          </a:prstGeom>
          <a:solidFill>
            <a:srgbClr val="FAEEDA"/>
          </a:solidFill>
          <a:ln/>
        </p:spPr>
      </p:sp>
      <p:sp>
        <p:nvSpPr>
          <p:cNvPr id="41" name="Text 39"/>
          <p:cNvSpPr/>
          <p:nvPr/>
        </p:nvSpPr>
        <p:spPr>
          <a:xfrm>
            <a:off x="13701713" y="6080986"/>
            <a:ext cx="3851196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&amp; P8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7A4F12"/>
                </a:solidFill>
                <a:highlight>
                  <a:srgbClr val="FAEED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connect to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AI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7A4F12"/>
                </a:solidFill>
                <a:highlight>
                  <a:srgbClr val="FAEED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7A4F12"/>
                </a:solidFill>
                <a:highlight>
                  <a:srgbClr val="FAEED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connects to </a:t>
            </a:r>
            <a:pPr algn="l" indent="0" marL="0">
              <a:lnSpc>
                <a:spcPct val="140000"/>
              </a:lnSpc>
              <a:buNone/>
            </a:pPr>
            <a:r>
              <a:rPr lang="en-US" sz="1275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7A4F12"/>
                </a:solidFill>
                <a:highlight>
                  <a:srgbClr val="FAEED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75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44" name="Text 41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45" name="Text 42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723900"/>
            <a:ext cx="1734540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DFD LEVEL 1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723900" y="1093628"/>
            <a:ext cx="1734540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75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 interactions — 6 collections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723900" y="4191363"/>
            <a:ext cx="5448300" cy="1443038"/>
          </a:xfrm>
          <a:prstGeom prst="roundRect">
            <a:avLst>
              <a:gd name="adj" fmla="val 14521"/>
            </a:avLst>
          </a:prstGeom>
          <a:solidFill>
            <a:srgbClr val="FFFFFF">
              <a:alpha val="9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3900" y="5626780"/>
            <a:ext cx="5448300" cy="9525"/>
          </a:xfrm>
          <a:prstGeom prst="rect">
            <a:avLst/>
          </a:prstGeom>
          <a:solidFill>
            <a:srgbClr val="E7EEEA">
              <a:alpha val="9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4191363"/>
            <a:ext cx="5448300" cy="9525"/>
          </a:xfrm>
          <a:prstGeom prst="rect">
            <a:avLst/>
          </a:prstGeom>
          <a:solidFill>
            <a:srgbClr val="E7EEEA">
              <a:alpha val="9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4191363"/>
            <a:ext cx="53340" cy="1443038"/>
          </a:xfrm>
          <a:prstGeom prst="rect">
            <a:avLst/>
          </a:prstGeom>
          <a:solidFill>
            <a:srgbClr val="5E8E2A">
              <a:alpha val="9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64580" y="4191363"/>
            <a:ext cx="9525" cy="1443038"/>
          </a:xfrm>
          <a:prstGeom prst="rect">
            <a:avLst/>
          </a:prstGeom>
          <a:solidFill>
            <a:srgbClr val="E7EEEA">
              <a:alpha val="99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43940" y="4465683"/>
            <a:ext cx="49995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95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· Users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43940" y="4835253"/>
            <a:ext cx="499955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P1, P11, P12, P14 — the identity backbone for all three roles.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6419850" y="4191363"/>
            <a:ext cx="5448300" cy="1443038"/>
          </a:xfrm>
          <a:prstGeom prst="roundRect">
            <a:avLst>
              <a:gd name="adj" fmla="val 14521"/>
            </a:avLst>
          </a:prstGeom>
          <a:solidFill>
            <a:srgbClr val="FFFFFF">
              <a:alpha val="9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419850" y="5626780"/>
            <a:ext cx="5448300" cy="9525"/>
          </a:xfrm>
          <a:prstGeom prst="rect">
            <a:avLst/>
          </a:prstGeom>
          <a:solidFill>
            <a:srgbClr val="E7EEEA">
              <a:alpha val="99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19850" y="4191363"/>
            <a:ext cx="5448300" cy="9525"/>
          </a:xfrm>
          <a:prstGeom prst="rect">
            <a:avLst/>
          </a:prstGeom>
          <a:solidFill>
            <a:srgbClr val="E7EEEA">
              <a:alpha val="99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19850" y="4191363"/>
            <a:ext cx="53340" cy="1443038"/>
          </a:xfrm>
          <a:prstGeom prst="rect">
            <a:avLst/>
          </a:prstGeom>
          <a:solidFill>
            <a:srgbClr val="5E8E2A">
              <a:alpha val="99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60530" y="4191363"/>
            <a:ext cx="9525" cy="1443038"/>
          </a:xfrm>
          <a:prstGeom prst="rect">
            <a:avLst/>
          </a:prstGeom>
          <a:solidFill>
            <a:srgbClr val="E7EEEA">
              <a:alpha val="99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39890" y="4465683"/>
            <a:ext cx="49995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95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· DoctorProfiles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739890" y="4835253"/>
            <a:ext cx="4999558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by search &amp; booking; verified by P9; set up by P11.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2115800" y="4194135"/>
            <a:ext cx="5448300" cy="1443038"/>
          </a:xfrm>
          <a:prstGeom prst="roundRect">
            <a:avLst>
              <a:gd name="adj" fmla="val 14521"/>
            </a:avLst>
          </a:prstGeom>
          <a:solidFill>
            <a:srgbClr val="FFFFFF">
              <a:alpha val="9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115800" y="5629553"/>
            <a:ext cx="5448300" cy="9525"/>
          </a:xfrm>
          <a:prstGeom prst="rect">
            <a:avLst/>
          </a:prstGeom>
          <a:solidFill>
            <a:srgbClr val="E7EEEA">
              <a:alpha val="9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115800" y="4194135"/>
            <a:ext cx="5448300" cy="9525"/>
          </a:xfrm>
          <a:prstGeom prst="rect">
            <a:avLst/>
          </a:prstGeom>
          <a:solidFill>
            <a:srgbClr val="E7EEEA">
              <a:alpha val="9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115800" y="4194135"/>
            <a:ext cx="53340" cy="1443038"/>
          </a:xfrm>
          <a:prstGeom prst="rect">
            <a:avLst/>
          </a:prstGeom>
          <a:solidFill>
            <a:srgbClr val="5E8E2A">
              <a:alpha val="9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556480" y="4194135"/>
            <a:ext cx="9525" cy="1443038"/>
          </a:xfrm>
          <a:prstGeom prst="rect">
            <a:avLst/>
          </a:prstGeom>
          <a:solidFill>
            <a:srgbClr val="E7EEEA">
              <a:alpha val="97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2435840" y="4468455"/>
            <a:ext cx="49995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95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 · Schedules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435840" y="4838025"/>
            <a:ext cx="4999558" cy="300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P10; the source of every generated booking slot.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723900" y="5890233"/>
            <a:ext cx="5448300" cy="1443038"/>
          </a:xfrm>
          <a:prstGeom prst="roundRect">
            <a:avLst>
              <a:gd name="adj" fmla="val 14521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23900" y="7325651"/>
            <a:ext cx="5448300" cy="9525"/>
          </a:xfrm>
          <a:prstGeom prst="rect">
            <a:avLst/>
          </a:prstGeom>
          <a:solidFill>
            <a:srgbClr val="E7EEEA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23900" y="5890233"/>
            <a:ext cx="5448300" cy="9525"/>
          </a:xfrm>
          <a:prstGeom prst="rect">
            <a:avLst/>
          </a:prstGeom>
          <a:solidFill>
            <a:srgbClr val="E7EEEA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23900" y="5890233"/>
            <a:ext cx="53340" cy="1443038"/>
          </a:xfrm>
          <a:prstGeom prst="rect">
            <a:avLst/>
          </a:prstGeom>
          <a:solidFill>
            <a:srgbClr val="5E8E2A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164580" y="5890233"/>
            <a:ext cx="9525" cy="1443038"/>
          </a:xfrm>
          <a:prstGeom prst="rect">
            <a:avLst/>
          </a:prstGeom>
          <a:solidFill>
            <a:srgbClr val="E7EEEA">
              <a:alpha val="9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43940" y="6164553"/>
            <a:ext cx="49995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95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· Appointments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043940" y="6534124"/>
            <a:ext cx="499955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 — booking, management &amp; records all read and write here.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6419850" y="5890233"/>
            <a:ext cx="5448300" cy="1443038"/>
          </a:xfrm>
          <a:prstGeom prst="roundRect">
            <a:avLst>
              <a:gd name="adj" fmla="val 14521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19850" y="7325651"/>
            <a:ext cx="5448300" cy="9525"/>
          </a:xfrm>
          <a:prstGeom prst="rect">
            <a:avLst/>
          </a:prstGeom>
          <a:solidFill>
            <a:srgbClr val="E7EEEA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19850" y="5890233"/>
            <a:ext cx="5448300" cy="9525"/>
          </a:xfrm>
          <a:prstGeom prst="rect">
            <a:avLst/>
          </a:prstGeom>
          <a:solidFill>
            <a:srgbClr val="E7EEEA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19850" y="5890233"/>
            <a:ext cx="53340" cy="1443038"/>
          </a:xfrm>
          <a:prstGeom prst="rect">
            <a:avLst/>
          </a:prstGeom>
          <a:solidFill>
            <a:srgbClr val="5E8E2A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860530" y="5890233"/>
            <a:ext cx="9525" cy="1443038"/>
          </a:xfrm>
          <a:prstGeom prst="rect">
            <a:avLst/>
          </a:prstGeom>
          <a:solidFill>
            <a:srgbClr val="E7EEEA">
              <a:alpha val="9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739890" y="6164553"/>
            <a:ext cx="49995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95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 · MedicalRecords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739890" y="6534124"/>
            <a:ext cx="499955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P6; read by health history &amp; the AI summarizer (P8).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12115800" y="5900475"/>
            <a:ext cx="5448300" cy="1443038"/>
          </a:xfrm>
          <a:prstGeom prst="roundRect">
            <a:avLst>
              <a:gd name="adj" fmla="val 14521"/>
            </a:avLst>
          </a:prstGeom>
          <a:solidFill>
            <a:srgbClr val="FFFFFF">
              <a:alpha val="8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2115800" y="7335892"/>
            <a:ext cx="5448300" cy="9525"/>
          </a:xfrm>
          <a:prstGeom prst="rect">
            <a:avLst/>
          </a:prstGeom>
          <a:solidFill>
            <a:srgbClr val="E7EEEA">
              <a:alpha val="87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115800" y="5900475"/>
            <a:ext cx="5448300" cy="9525"/>
          </a:xfrm>
          <a:prstGeom prst="rect">
            <a:avLst/>
          </a:prstGeom>
          <a:solidFill>
            <a:srgbClr val="E7EEEA">
              <a:alpha val="87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2115800" y="5900475"/>
            <a:ext cx="53340" cy="1443038"/>
          </a:xfrm>
          <a:prstGeom prst="rect">
            <a:avLst/>
          </a:prstGeom>
          <a:solidFill>
            <a:srgbClr val="5E8E2A">
              <a:alpha val="8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7556480" y="5900475"/>
            <a:ext cx="9525" cy="1443038"/>
          </a:xfrm>
          <a:prstGeom prst="rect">
            <a:avLst/>
          </a:prstGeom>
          <a:solidFill>
            <a:srgbClr val="E7EEEA">
              <a:alpha val="87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2435840" y="6174795"/>
            <a:ext cx="499955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3957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D6 · Notifications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435840" y="6544365"/>
            <a:ext cx="4999558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Fan-out from booking, confirmation, records &amp; verification events.</a:t>
            </a:r>
            <a:endParaRPr lang="en-US" sz="1425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48" name="Text 45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49" name="Text 46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" y="723900"/>
            <a:ext cx="1734540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· SEQUENCE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723900" y="1093628"/>
            <a:ext cx="1734540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b="1" spc="-75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— patient books an appointment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723900" y="4272564"/>
            <a:ext cx="3246120" cy="742474"/>
          </a:xfrm>
          <a:prstGeom prst="roundRect">
            <a:avLst>
              <a:gd name="adj" fmla="val 20526"/>
            </a:avLst>
          </a:prstGeom>
          <a:solidFill>
            <a:srgbClr val="E3F6EE"/>
          </a:solidFill>
          <a:ln w="15240">
            <a:solidFill>
              <a:srgbClr val="2DB1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3798" y="4421154"/>
            <a:ext cx="3046324" cy="483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Patient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4122420" y="4272564"/>
            <a:ext cx="3246120" cy="742474"/>
          </a:xfrm>
          <a:prstGeom prst="roundRect">
            <a:avLst>
              <a:gd name="adj" fmla="val 20526"/>
            </a:avLst>
          </a:prstGeom>
          <a:solidFill>
            <a:srgbClr val="EDEBFD"/>
          </a:solidFill>
          <a:ln w="15240">
            <a:solidFill>
              <a:srgbClr val="6A5F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8413" y="4428774"/>
            <a:ext cx="770334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4226776" y="4675948"/>
            <a:ext cx="30374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52C86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20940" y="4272564"/>
            <a:ext cx="3246120" cy="742474"/>
          </a:xfrm>
          <a:prstGeom prst="roundRect">
            <a:avLst>
              <a:gd name="adj" fmla="val 20526"/>
            </a:avLst>
          </a:prstGeom>
          <a:solidFill>
            <a:srgbClr val="15795A"/>
          </a:solidFill>
          <a:ln w="15240">
            <a:solidFill>
              <a:srgbClr val="1579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91206" y="4428774"/>
            <a:ext cx="981789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7625296" y="4675948"/>
            <a:ext cx="30374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DEEDE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19460" y="4272564"/>
            <a:ext cx="3246120" cy="742474"/>
          </a:xfrm>
          <a:prstGeom prst="roundRect">
            <a:avLst>
              <a:gd name="adj" fmla="val 20526"/>
            </a:avLst>
          </a:prstGeom>
          <a:solidFill>
            <a:srgbClr val="EDF6E0"/>
          </a:solidFill>
          <a:ln w="15240">
            <a:solidFill>
              <a:srgbClr val="5E8E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15324" y="4428774"/>
            <a:ext cx="93059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39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1023816" y="4675948"/>
            <a:ext cx="30374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9570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317981" y="4272564"/>
            <a:ext cx="3246120" cy="742474"/>
          </a:xfrm>
          <a:prstGeom prst="roundRect">
            <a:avLst>
              <a:gd name="adj" fmla="val 20526"/>
            </a:avLst>
          </a:prstGeom>
          <a:solidFill>
            <a:srgbClr val="FAEEDA"/>
          </a:solidFill>
          <a:ln w="15240">
            <a:solidFill>
              <a:srgbClr val="C985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392995" y="4428774"/>
            <a:ext cx="117217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5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4422336" y="4675948"/>
            <a:ext cx="30374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A4F12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3900" y="5322611"/>
            <a:ext cx="4762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76350" y="5303561"/>
            <a:ext cx="635442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/api/doctors </a:t>
            </a:r>
            <a:pPr algn="l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query verified DoctorProfiles → return doctor list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723900" y="5682656"/>
            <a:ext cx="4762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76350" y="5663606"/>
            <a:ext cx="750657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/schedules/:id/slots </a:t>
            </a:r>
            <a:pPr algn="l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Schedules − booked Appointments → available slots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723900" y="6048113"/>
            <a:ext cx="4762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76350" y="6029063"/>
            <a:ext cx="677334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/api/appointments </a:t>
            </a:r>
            <a:pPr algn="l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save Appointment + calculate queue number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723900" y="6408158"/>
            <a:ext cx="4762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76350" y="6389108"/>
            <a:ext cx="707109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</a:t>
            </a:r>
            <a:pPr algn="l" indent="0" marL="0">
              <a:buNone/>
            </a:pPr>
            <a:r>
              <a:rPr lang="en-US" sz="15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</a:t>
            </a:r>
            <a:pPr algn="l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(booking_new → Doctor) → confirm booking + queue no.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723900" y="6778446"/>
            <a:ext cx="47625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76350" y="6759396"/>
            <a:ext cx="742011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confirms → inputs results → Appointment auto-completes → record saved</a:t>
            </a:r>
            <a:endParaRPr lang="en-US" sz="1575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30" name="Text 27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850" y="704850"/>
            <a:ext cx="1738464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704850" y="1074578"/>
            <a:ext cx="17384649" cy="553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— a four-layer architecture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704850" y="3487824"/>
            <a:ext cx="16878300" cy="990600"/>
          </a:xfrm>
          <a:prstGeom prst="roundRect">
            <a:avLst>
              <a:gd name="adj" fmla="val 17308"/>
            </a:avLst>
          </a:prstGeom>
          <a:solidFill>
            <a:srgbClr val="EDEBFD">
              <a:alpha val="99000"/>
            </a:srgbClr>
          </a:solidFill>
          <a:ln w="15240">
            <a:solidFill>
              <a:srgbClr val="6A5FCB">
                <a:alpha val="9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6790" y="3712614"/>
            <a:ext cx="2747010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Presentation </a:t>
            </a:r>
            <a:pPr algn="l" indent="0" marL="0">
              <a:buNone/>
            </a:pPr>
            <a:r>
              <a:rPr lang="en-US" sz="1350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· Vercel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3920490" y="3783099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C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9560" y="3876444"/>
            <a:ext cx="86106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Pages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5196840" y="3783099"/>
            <a:ext cx="2660094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C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75910" y="3876444"/>
            <a:ext cx="2381757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AuthContext · JWT routing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7990284" y="3783099"/>
            <a:ext cx="2389346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C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9354" y="3876444"/>
            <a:ext cx="2107406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· JWT interceptor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0512980" y="3783099"/>
            <a:ext cx="17360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C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2050" y="3876444"/>
            <a:ext cx="145411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52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v6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451676" y="4648557"/>
            <a:ext cx="1738464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04850" y="5067938"/>
            <a:ext cx="16878300" cy="990600"/>
          </a:xfrm>
          <a:prstGeom prst="roundRect">
            <a:avLst>
              <a:gd name="adj" fmla="val 17308"/>
            </a:avLst>
          </a:prstGeom>
          <a:solidFill>
            <a:srgbClr val="15795A">
              <a:alpha val="97000"/>
            </a:srgbClr>
          </a:solidFill>
          <a:ln w="15240">
            <a:solidFill>
              <a:srgbClr val="15795A">
                <a:alpha val="97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6790" y="5292728"/>
            <a:ext cx="2747010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Application </a:t>
            </a:r>
            <a:pPr algn="l" indent="0" marL="0">
              <a:buNone/>
            </a:pPr>
            <a:r>
              <a:rPr lang="en-US" sz="1350" dirty="0">
                <a:solidFill>
                  <a:srgbClr val="CDEE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+ Express · Render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3920490" y="5363213"/>
            <a:ext cx="1122521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762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99560" y="5456558"/>
            <a:ext cx="84058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Routes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5176361" y="5363213"/>
            <a:ext cx="1474470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762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5431" y="5456558"/>
            <a:ext cx="119253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Controllers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6784181" y="5363213"/>
            <a:ext cx="2841546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762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3251" y="5456558"/>
            <a:ext cx="256865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· CORS · authorize(role)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759078" y="5363213"/>
            <a:ext cx="2519958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762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38148" y="5456558"/>
            <a:ext cx="223801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· Google OAuth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451676" y="6225897"/>
            <a:ext cx="1738464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04850" y="6650691"/>
            <a:ext cx="10281047" cy="1272540"/>
          </a:xfrm>
          <a:prstGeom prst="roundRect">
            <a:avLst>
              <a:gd name="adj" fmla="val 13473"/>
            </a:avLst>
          </a:prstGeom>
          <a:solidFill>
            <a:srgbClr val="EDF6E0">
              <a:alpha val="94000"/>
            </a:srgbClr>
          </a:solidFill>
          <a:ln w="15240">
            <a:solidFill>
              <a:srgbClr val="5E8E2A">
                <a:alpha val="94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6790" y="6875481"/>
            <a:ext cx="1000868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9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 — MongoDB Atlas M0</a:t>
            </a:r>
            <a:endParaRPr lang="en-US" sz="1725" dirty="0"/>
          </a:p>
        </p:txBody>
      </p:sp>
      <p:sp>
        <p:nvSpPr>
          <p:cNvPr id="28" name="Shape 26"/>
          <p:cNvSpPr/>
          <p:nvPr/>
        </p:nvSpPr>
        <p:spPr>
          <a:xfrm>
            <a:off x="986790" y="7298391"/>
            <a:ext cx="861298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E0B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5860" y="7391736"/>
            <a:ext cx="57935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9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1943338" y="7298391"/>
            <a:ext cx="1605201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E0B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2408" y="7391736"/>
            <a:ext cx="132326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9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DoctorProfiles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3643789" y="7298391"/>
            <a:ext cx="1263372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E0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859" y="7391736"/>
            <a:ext cx="98143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9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</a:t>
            </a:r>
            <a:endParaRPr lang="en-US" sz="1425" dirty="0"/>
          </a:p>
        </p:txBody>
      </p:sp>
      <p:sp>
        <p:nvSpPr>
          <p:cNvPr id="34" name="Shape 32"/>
          <p:cNvSpPr/>
          <p:nvPr/>
        </p:nvSpPr>
        <p:spPr>
          <a:xfrm>
            <a:off x="5002411" y="7298391"/>
            <a:ext cx="1574602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E0B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81481" y="7391736"/>
            <a:ext cx="129266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9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6672263" y="7298391"/>
            <a:ext cx="1746171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E0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1333" y="7391736"/>
            <a:ext cx="146423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9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MedicalRecords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8513683" y="7298391"/>
            <a:ext cx="145411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CFE0B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92753" y="7391736"/>
            <a:ext cx="117217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3957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11157347" y="6660937"/>
            <a:ext cx="6425803" cy="1272540"/>
          </a:xfrm>
          <a:prstGeom prst="roundRect">
            <a:avLst>
              <a:gd name="adj" fmla="val 13473"/>
            </a:avLst>
          </a:prstGeom>
          <a:solidFill>
            <a:srgbClr val="FAEEDA">
              <a:alpha val="87000"/>
            </a:srgbClr>
          </a:solidFill>
          <a:ln w="15240">
            <a:solidFill>
              <a:srgbClr val="C9852F">
                <a:alpha val="87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439287" y="6885727"/>
            <a:ext cx="6037781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External Services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11439287" y="7308637"/>
            <a:ext cx="1886545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8CF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618357" y="7401982"/>
            <a:ext cx="1604605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OAuth 2.0</a:t>
            </a:r>
            <a:endParaRPr lang="en-US" sz="1425" dirty="0"/>
          </a:p>
        </p:txBody>
      </p:sp>
      <p:sp>
        <p:nvSpPr>
          <p:cNvPr id="44" name="Shape 42"/>
          <p:cNvSpPr/>
          <p:nvPr/>
        </p:nvSpPr>
        <p:spPr>
          <a:xfrm>
            <a:off x="13421082" y="7308637"/>
            <a:ext cx="2322552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8CF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600152" y="7401982"/>
            <a:ext cx="204061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7A4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AI · llama-3.3-70b</a:t>
            </a:r>
            <a:endParaRPr lang="en-US" sz="1425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48" name="Text 45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49" name="Text 46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14400" y="1322229"/>
            <a:ext cx="16952976" cy="553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business rules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3962170"/>
            <a:ext cx="8115300" cy="1249680"/>
          </a:xfrm>
          <a:prstGeom prst="roundRect">
            <a:avLst>
              <a:gd name="adj" fmla="val 16768"/>
            </a:avLst>
          </a:prstGeom>
          <a:solidFill>
            <a:srgbClr val="F6FBF9">
              <a:alpha val="99000"/>
            </a:srgbClr>
          </a:solidFill>
          <a:ln w="7620">
            <a:solidFill>
              <a:srgbClr val="E7EEEA">
                <a:alpha val="9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5870" y="4293640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72578" y="4293640"/>
            <a:ext cx="5123174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doctor must be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appear in patient search.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258300" y="3962170"/>
            <a:ext cx="8115300" cy="1249680"/>
          </a:xfrm>
          <a:prstGeom prst="roundRect">
            <a:avLst>
              <a:gd name="adj" fmla="val 16768"/>
            </a:avLst>
          </a:prstGeom>
          <a:solidFill>
            <a:srgbClr val="F6FBF9">
              <a:alpha val="99000"/>
            </a:srgbClr>
          </a:solidFill>
          <a:ln w="7620">
            <a:solidFill>
              <a:srgbClr val="E7EEEA">
                <a:alpha val="99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89770" y="4293640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16477" y="4293640"/>
            <a:ext cx="7339422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queueNumber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non-cancelled appointments for the same doctor + date, + 1.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5443224"/>
            <a:ext cx="8115300" cy="990600"/>
          </a:xfrm>
          <a:prstGeom prst="roundRect">
            <a:avLst>
              <a:gd name="adj" fmla="val 21154"/>
            </a:avLst>
          </a:prstGeom>
          <a:solidFill>
            <a:srgbClr val="F6FBF9">
              <a:alpha val="97000"/>
            </a:srgbClr>
          </a:solidFill>
          <a:ln w="7620">
            <a:solidFill>
              <a:srgbClr val="E7EEEA">
                <a:alpha val="9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5870" y="5774694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72578" y="5774694"/>
            <a:ext cx="624846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slots = Schedule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minus already-booked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 that day.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258300" y="5443224"/>
            <a:ext cx="8115300" cy="990600"/>
          </a:xfrm>
          <a:prstGeom prst="roundRect">
            <a:avLst>
              <a:gd name="adj" fmla="val 21154"/>
            </a:avLst>
          </a:prstGeom>
          <a:solidFill>
            <a:srgbClr val="F6FBF9">
              <a:alpha val="97000"/>
            </a:srgbClr>
          </a:solidFill>
          <a:ln w="7620">
            <a:solidFill>
              <a:srgbClr val="E7EEEA">
                <a:alpha val="97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89770" y="5774694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6477" y="5774694"/>
            <a:ext cx="5782211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records require an appointment marked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14400" y="6667839"/>
            <a:ext cx="8115300" cy="990600"/>
          </a:xfrm>
          <a:prstGeom prst="roundRect">
            <a:avLst>
              <a:gd name="adj" fmla="val 21154"/>
            </a:avLst>
          </a:prstGeom>
          <a:solidFill>
            <a:srgbClr val="F6FBF9">
              <a:alpha val="94000"/>
            </a:srgbClr>
          </a:solidFill>
          <a:ln w="7620">
            <a:solidFill>
              <a:srgbClr val="E7EEEA">
                <a:alpha val="9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5870" y="6999309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572578" y="6999309"/>
            <a:ext cx="694454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access is restricted to the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patient or creating doctor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258300" y="6667839"/>
            <a:ext cx="8115300" cy="990600"/>
          </a:xfrm>
          <a:prstGeom prst="roundRect">
            <a:avLst>
              <a:gd name="adj" fmla="val 21154"/>
            </a:avLst>
          </a:prstGeom>
          <a:solidFill>
            <a:srgbClr val="F6FBF9">
              <a:alpha val="94000"/>
            </a:srgbClr>
          </a:solidFill>
          <a:ln w="7620">
            <a:solidFill>
              <a:srgbClr val="E7EEEA">
                <a:alpha val="94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89770" y="6999309"/>
            <a:ext cx="21240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⑥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916477" y="6999309"/>
            <a:ext cx="705429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calls are </a:t>
            </a:r>
            <a:pPr algn="l" indent="0" marL="0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only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Groq key never reaches the frontend.</a:t>
            </a:r>
            <a:endParaRPr lang="en-US" sz="16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4" name="Text 21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25" name="Text 22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668500" y="6858000"/>
            <a:ext cx="5334000" cy="5334000"/>
          </a:xfrm>
          <a:prstGeom prst="ellipse">
            <a:avLst/>
          </a:prstGeom>
          <a:solidFill>
            <a:srgbClr val="2DB180">
              <a:alpha val="21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322228"/>
            <a:ext cx="16952976" cy="553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a free, modern stack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4477947"/>
            <a:ext cx="5308521" cy="2346960"/>
          </a:xfrm>
          <a:prstGeom prst="roundRect">
            <a:avLst>
              <a:gd name="adj" fmla="val 8929"/>
            </a:avLst>
          </a:prstGeom>
          <a:solidFill>
            <a:srgbClr val="FFFFFF">
              <a:alpha val="99000"/>
            </a:srgbClr>
          </a:solidFill>
          <a:ln w="7620">
            <a:solidFill>
              <a:srgbClr val="E7EEEA">
                <a:alpha val="99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97185" y="4866567"/>
            <a:ext cx="742950" cy="742950"/>
          </a:xfrm>
          <a:prstGeom prst="roundRect">
            <a:avLst>
              <a:gd name="adj" fmla="val 25641"/>
            </a:avLst>
          </a:prstGeom>
          <a:solidFill>
            <a:srgbClr val="1579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6260" y="5085642"/>
            <a:ext cx="30480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6943" y="5819067"/>
            <a:ext cx="486343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36943" y="6200067"/>
            <a:ext cx="486343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— React SPA</a:t>
            </a:r>
            <a:endParaRPr lang="en-US" sz="1575" dirty="0"/>
          </a:p>
        </p:txBody>
      </p:sp>
      <p:sp>
        <p:nvSpPr>
          <p:cNvPr id="10" name="Shape 7"/>
          <p:cNvSpPr/>
          <p:nvPr/>
        </p:nvSpPr>
        <p:spPr>
          <a:xfrm>
            <a:off x="6489621" y="4480721"/>
            <a:ext cx="5308640" cy="2346960"/>
          </a:xfrm>
          <a:prstGeom prst="roundRect">
            <a:avLst>
              <a:gd name="adj" fmla="val 8929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7EEEA">
                <a:alpha val="97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72406" y="4869341"/>
            <a:ext cx="742950" cy="742950"/>
          </a:xfrm>
          <a:prstGeom prst="roundRect">
            <a:avLst>
              <a:gd name="adj" fmla="val 25641"/>
            </a:avLst>
          </a:prstGeom>
          <a:solidFill>
            <a:srgbClr val="E3F6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481" y="5088416"/>
            <a:ext cx="304800" cy="304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12162" y="5821841"/>
            <a:ext cx="48635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Render.com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712162" y="6202841"/>
            <a:ext cx="486355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— Node / Express API</a:t>
            </a:r>
            <a:endParaRPr lang="en-US" sz="1575" dirty="0"/>
          </a:p>
        </p:txBody>
      </p:sp>
      <p:sp>
        <p:nvSpPr>
          <p:cNvPr id="15" name="Shape 11"/>
          <p:cNvSpPr/>
          <p:nvPr/>
        </p:nvSpPr>
        <p:spPr>
          <a:xfrm>
            <a:off x="12064960" y="4486133"/>
            <a:ext cx="5308640" cy="2346960"/>
          </a:xfrm>
          <a:prstGeom prst="roundRect">
            <a:avLst>
              <a:gd name="adj" fmla="val 8929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E7EEEA">
                <a:alpha val="94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4347746" y="4874753"/>
            <a:ext cx="742950" cy="742950"/>
          </a:xfrm>
          <a:prstGeom prst="roundRect">
            <a:avLst>
              <a:gd name="adj" fmla="val 25641"/>
            </a:avLst>
          </a:prstGeom>
          <a:solidFill>
            <a:srgbClr val="EDF6E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821" y="5093828"/>
            <a:ext cx="304800" cy="304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287502" y="5827253"/>
            <a:ext cx="48635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12287502" y="6208253"/>
            <a:ext cx="486355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— M0 free tier</a:t>
            </a:r>
            <a:endParaRPr lang="en-US" sz="1575" dirty="0"/>
          </a:p>
        </p:txBody>
      </p:sp>
      <p:sp>
        <p:nvSpPr>
          <p:cNvPr id="20" name="Text 15"/>
          <p:cNvSpPr/>
          <p:nvPr/>
        </p:nvSpPr>
        <p:spPr>
          <a:xfrm>
            <a:off x="667512" y="9063735"/>
            <a:ext cx="169529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A423F">
                    <a:alpha val="8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 (7-day expiry) · Google OAuth 2.0 · environment-based config across all three services.</a:t>
            </a:r>
            <a:endParaRPr lang="en-US" sz="1725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3" name="Text 17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24" name="Text 18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9529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b="1" spc="347" kern="0" dirty="0">
                <a:solidFill>
                  <a:srgbClr val="157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14400" y="1322228"/>
            <a:ext cx="16952976" cy="553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— today, the roadmap tomorrow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914400" y="4753694"/>
            <a:ext cx="3139440" cy="1414463"/>
          </a:xfrm>
          <a:prstGeom prst="roundRect">
            <a:avLst>
              <a:gd name="adj" fmla="val 14815"/>
            </a:avLst>
          </a:prstGeom>
          <a:solidFill>
            <a:srgbClr val="FFFFFF">
              <a:alpha val="99000"/>
            </a:srgbClr>
          </a:solidFill>
          <a:ln w="7620">
            <a:solidFill>
              <a:srgbClr val="E7EEEA">
                <a:alpha val="9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751" y="5047065"/>
            <a:ext cx="286473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51751" y="5614754"/>
            <a:ext cx="2864739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BPJS PCare integration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4244340" y="4756466"/>
            <a:ext cx="3139440" cy="1414463"/>
          </a:xfrm>
          <a:prstGeom prst="roundRect">
            <a:avLst>
              <a:gd name="adj" fmla="val 14815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7EEEA">
                <a:alpha val="97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1690" y="5049837"/>
            <a:ext cx="286473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381690" y="5617526"/>
            <a:ext cx="2864739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 &amp; deposits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7574280" y="4761876"/>
            <a:ext cx="3139440" cy="1414463"/>
          </a:xfrm>
          <a:prstGeom prst="roundRect">
            <a:avLst>
              <a:gd name="adj" fmla="val 14815"/>
            </a:avLst>
          </a:prstGeom>
          <a:solidFill>
            <a:srgbClr val="FFFFFF">
              <a:alpha val="94000"/>
            </a:srgbClr>
          </a:solidFill>
          <a:ln w="7620">
            <a:solidFill>
              <a:srgbClr val="E7EEEA">
                <a:alpha val="9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1631" y="5055247"/>
            <a:ext cx="286473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711631" y="5622936"/>
            <a:ext cx="2864739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Teleconsultation / video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0904220" y="4772116"/>
            <a:ext cx="3139440" cy="1414463"/>
          </a:xfrm>
          <a:prstGeom prst="roundRect">
            <a:avLst>
              <a:gd name="adj" fmla="val 14815"/>
            </a:avLst>
          </a:prstGeom>
          <a:solidFill>
            <a:srgbClr val="FFFFFF">
              <a:alpha val="87000"/>
            </a:srgbClr>
          </a:solidFill>
          <a:ln w="7620">
            <a:solidFill>
              <a:srgbClr val="E7EEEA">
                <a:alpha val="87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41570" y="5065486"/>
            <a:ext cx="286473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041570" y="5633177"/>
            <a:ext cx="2864739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SATUSEHAT integration</a:t>
            </a:r>
            <a:endParaRPr lang="en-US" sz="1575" dirty="0"/>
          </a:p>
        </p:txBody>
      </p:sp>
      <p:sp>
        <p:nvSpPr>
          <p:cNvPr id="16" name="Shape 14"/>
          <p:cNvSpPr/>
          <p:nvPr/>
        </p:nvSpPr>
        <p:spPr>
          <a:xfrm>
            <a:off x="14234160" y="4792838"/>
            <a:ext cx="3139440" cy="1414463"/>
          </a:xfrm>
          <a:prstGeom prst="roundRect">
            <a:avLst>
              <a:gd name="adj" fmla="val 14815"/>
            </a:avLst>
          </a:prstGeom>
          <a:solidFill>
            <a:srgbClr val="FFFFFF">
              <a:alpha val="73000"/>
            </a:srgbClr>
          </a:solidFill>
          <a:ln w="7620">
            <a:solidFill>
              <a:srgbClr val="E7EEEA">
                <a:alpha val="73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71511" y="5086208"/>
            <a:ext cx="2864739" cy="472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4371511" y="5653898"/>
            <a:ext cx="2864739" cy="298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mobile app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667512" y="9084447"/>
            <a:ext cx="169529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A423F">
                    <a:alpha val="73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MVP today — with a clear path toward a full clinical platform.</a:t>
            </a:r>
            <a:endParaRPr lang="en-US" sz="172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" y="9601200"/>
            <a:ext cx="285750" cy="2857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14400" y="9637395"/>
            <a:ext cx="83034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1782842" y="9637395"/>
            <a:ext cx="12656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DB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23" name="Text 20"/>
          <p:cNvSpPr/>
          <p:nvPr/>
        </p:nvSpPr>
        <p:spPr>
          <a:xfrm>
            <a:off x="17138213" y="9620250"/>
            <a:ext cx="7116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08" kern="0" dirty="0">
                <a:solidFill>
                  <a:srgbClr val="157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algn="l" indent="0" marL="0">
              <a:buNone/>
            </a:pPr>
            <a:r>
              <a:rPr lang="en-US" sz="1350" b="1" spc="108" kern="0" dirty="0">
                <a:solidFill>
                  <a:srgbClr val="6B75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16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8750" y="1238250"/>
            <a:ext cx="7810500" cy="7810500"/>
          </a:xfrm>
          <a:prstGeom prst="ellipse">
            <a:avLst/>
          </a:prstGeom>
          <a:solidFill>
            <a:srgbClr val="2DB180">
              <a:alpha val="21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4875" y="2859167"/>
            <a:ext cx="123825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73915" y="4383325"/>
            <a:ext cx="4540170" cy="98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200" b="1" spc="-144" kern="0" dirty="0">
                <a:solidFill>
                  <a:srgbClr val="0D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5746172" y="5525935"/>
            <a:ext cx="679553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A423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are welcome — let's talk about </a:t>
            </a:r>
            <a:pPr algn="ctr" indent="0" marL="0">
              <a:lnSpc>
                <a:spcPct val="150000"/>
              </a:lnSpc>
              <a:buNone/>
            </a:pPr>
            <a:r>
              <a:rPr lang="en-US" sz="2250" b="1" dirty="0">
                <a:solidFill>
                  <a:srgbClr val="0D0E0E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MediSlot</a:t>
            </a:r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3A423F">
                    <a:alpha val="99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198269" y="6414534"/>
            <a:ext cx="250281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your.email@domain.com ]</a:t>
            </a:r>
            <a:endParaRPr lang="en-US" sz="1575" dirty="0"/>
          </a:p>
        </p:txBody>
      </p:sp>
      <p:sp>
        <p:nvSpPr>
          <p:cNvPr id="7" name="Shape 4"/>
          <p:cNvSpPr/>
          <p:nvPr/>
        </p:nvSpPr>
        <p:spPr>
          <a:xfrm>
            <a:off x="8005882" y="6504069"/>
            <a:ext cx="57150" cy="57150"/>
          </a:xfrm>
          <a:prstGeom prst="ellipse">
            <a:avLst/>
          </a:prstGeom>
          <a:solidFill>
            <a:srgbClr val="2DB180"/>
          </a:solidFill>
          <a:ln/>
        </p:spPr>
      </p:sp>
      <p:sp>
        <p:nvSpPr>
          <p:cNvPr id="8" name="Text 5"/>
          <p:cNvSpPr/>
          <p:nvPr/>
        </p:nvSpPr>
        <p:spPr>
          <a:xfrm>
            <a:off x="8365571" y="6414534"/>
            <a:ext cx="277141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github.com/Drafaund/MediSlot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11439525" y="6504069"/>
            <a:ext cx="57150" cy="57150"/>
          </a:xfrm>
          <a:prstGeom prst="ellipse">
            <a:avLst/>
          </a:prstGeom>
          <a:solidFill>
            <a:srgbClr val="2DB180"/>
          </a:solidFill>
          <a:ln/>
        </p:spPr>
      </p:sp>
      <p:sp>
        <p:nvSpPr>
          <p:cNvPr id="10" name="Text 7"/>
          <p:cNvSpPr/>
          <p:nvPr/>
        </p:nvSpPr>
        <p:spPr>
          <a:xfrm>
            <a:off x="11801475" y="6414534"/>
            <a:ext cx="12882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3A4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Name ]</a:t>
            </a:r>
            <a:endParaRPr lang="en-US" sz="1575" dirty="0"/>
          </a:p>
        </p:txBody>
      </p:sp>
      <p:sp>
        <p:nvSpPr>
          <p:cNvPr id="11" name="Shape 8"/>
          <p:cNvSpPr/>
          <p:nvPr/>
        </p:nvSpPr>
        <p:spPr>
          <a:xfrm>
            <a:off x="6511290" y="7037167"/>
            <a:ext cx="5265420" cy="40005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7620">
            <a:solidFill>
              <a:srgbClr val="BFE6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1379" y="7130512"/>
            <a:ext cx="5065242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· MongoDB Developer Path · UGM 2025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2026-06-04T06:32:42Z</dcterms:created>
  <dcterms:modified xsi:type="dcterms:W3CDTF">2026-06-04T06:32:42Z</dcterms:modified>
</cp:coreProperties>
</file>